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0"/>
          </a:solidFill>
          <a:ln>
            <a:solidFill>
              <a:srgbClr val="080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2011680" cy="73152"/>
          </a:xfrm>
          <a:prstGeom prst="rect">
            <a:avLst/>
          </a:prstGeom>
          <a:solidFill>
            <a:srgbClr val="F7B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⚡ iQOO EdgeTutor</a:t>
            </a:r>
          </a:p>
          <a:p>
            <a:pPr>
              <a:spcBef>
                <a:spcPts val="800"/>
              </a:spcBef>
              <a:defRPr sz="2200" b="1">
                <a:solidFill>
                  <a:srgbClr val="F7B500"/>
                </a:solidFill>
              </a:defRPr>
            </a:pPr>
            <a:r>
              <a:t>What If Your Smartphone Could Tutor You with Zero Internet?</a:t>
            </a:r>
          </a:p>
          <a:p>
            <a:pPr>
              <a:spcBef>
                <a:spcPts val="600"/>
              </a:spcBef>
              <a:defRPr sz="1400">
                <a:solidFill>
                  <a:srgbClr val="A5AFC3"/>
                </a:solidFill>
              </a:defRPr>
            </a:pPr>
            <a:r>
              <a:t>An On-Device AI Mentor for CBSE 9-10 &amp; JEE Problem Solving in 100% Airplane Mode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3291840" cy="228600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3E00"/>
                </a:solidFill>
              </a:defRPr>
            </a:pPr>
            <a:r>
              <a:t>📷 1. Offline Camera Scan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Point camera at printed textbook problem</a:t>
            </a:r>
            <a:br/>
            <a:r>
              <a:t>• Local Google ML Kit text extraction</a:t>
            </a:r>
            <a:br/>
            <a:r>
              <a:t>• Zero internet permission (0 KB Air-Gapped)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108960"/>
            <a:ext cx="3291840" cy="228600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🧠 2. On-Device Reasoning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Embedded NCERT curriculum vault</a:t>
            </a:r>
            <a:br/>
            <a:r>
              <a:t>• Small Language Model (SLM) reasoning</a:t>
            </a:r>
            <a:br/>
            <a:r>
              <a:t>• Grounded in CBSE standards (No hallucinations)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08960"/>
            <a:ext cx="3291840" cy="228600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76"/>
                </a:solidFill>
              </a:defRPr>
            </a:pPr>
            <a:r>
              <a:t>💬 3. Socratic Mentorship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Teaches derivation step-by-step</a:t>
            </a:r>
            <a:br/>
            <a:r>
              <a:t>• Asks probing questions, doesn't dump answers</a:t>
            </a:r>
            <a:br/>
            <a:r>
              <a:t>• KaTeX formatted math symbols &amp; formulas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150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5AFC3"/>
                </a:solidFill>
              </a:defRPr>
            </a:pPr>
            <a:r>
              <a:t>👤 Presenter: VARANASI SAI VINAY   |   🔗 GitHub: github.com/vinayvaranasi0711-alt/iqoo-edgetutor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0"/>
          </a:solidFill>
          <a:ln>
            <a:solidFill>
              <a:srgbClr val="080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7B500"/>
                </a:solidFill>
              </a:defRPr>
            </a:pPr>
            <a:r>
              <a:t>01 /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Real Problem: Why Online EdTech Fails Students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32588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3E00"/>
                </a:solidFill>
              </a:defRPr>
            </a:pPr>
            <a:r>
              <a:t>📶 1. The Connectivity Drop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Cloud-dependent AI fails in college hostels, remote towns, or daily train commutes. When students study late at night and connection drops, learning halts completely.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1744"/>
                </a:solidFill>
              </a:defRPr>
            </a:pPr>
            <a:r>
              <a:t>📱 2. The Distraction Trap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Opening a browser to check a doubt exposes students to social notifications (Instagram, WhatsApp, YouTube). Deep study requires focused isolation, but cloud AI demands active connectivity.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32588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500"/>
                </a:solidFill>
              </a:defRPr>
            </a:pPr>
            <a:r>
              <a:t>📋 3. Answer-Dumping vs. True Learning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Current cloud tools act as homework copy-pasters. They dump final answers instantly without guiding the student through the fundamental physical derivations and problem-solving steps.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0"/>
          </a:solidFill>
          <a:ln>
            <a:solidFill>
              <a:srgbClr val="080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7B500"/>
                </a:solidFill>
              </a:defRPr>
            </a:pPr>
            <a:r>
              <a:t>02 /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It Works: End-to-End On-Device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57400" cy="438912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3E00"/>
                </a:solidFill>
              </a:defRPr>
            </a:pPr>
            <a:r>
              <a:t>Step 1: Vision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</a:defRPr>
            </a:pPr>
            <a:r>
              <a:t>CameraX (Airplane Mode)</a:t>
            </a:r>
            <a:br/>
            <a:r>
              <a:t>On-device Optical Scanner</a:t>
            </a:r>
            <a:br/>
            <a:r>
              <a:t>Zero network permission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645920"/>
            <a:ext cx="2057400" cy="438912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7B500"/>
                </a:solidFill>
              </a:defRPr>
            </a:pPr>
            <a:r>
              <a:t>Step 2: Local OCR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</a:defRPr>
            </a:pPr>
            <a:r>
              <a:t>Google ML Kit (Offline)</a:t>
            </a:r>
            <a:br/>
            <a:r>
              <a:t>Extracts formulas &amp; text</a:t>
            </a:r>
            <a:br/>
            <a:r>
              <a:t>Runs fully in memory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45920"/>
            <a:ext cx="2057400" cy="438912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Step 3: Curriculum RAG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</a:defRPr>
            </a:pPr>
            <a:r>
              <a:t>NCERT Knowledge Vault</a:t>
            </a:r>
            <a:br/>
            <a:r>
              <a:t>CBSE 9-10 &amp; JEE 11-12</a:t>
            </a:r>
            <a:br/>
            <a:r>
              <a:t>Prevents hallucinations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1645920"/>
            <a:ext cx="2057400" cy="438912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5FF"/>
                </a:solidFill>
              </a:defRPr>
            </a:pPr>
            <a:r>
              <a:t>Step 4: SLM Engine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</a:defRPr>
            </a:pPr>
            <a:r>
              <a:t>Quantized Local Model</a:t>
            </a:r>
            <a:br/>
            <a:r>
              <a:t>Gemma 2B / Phi-3.5 target</a:t>
            </a:r>
            <a:br/>
            <a:r>
              <a:t>Socratic step generation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645920"/>
            <a:ext cx="2057400" cy="438912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Step 5: Socratic UI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</a:defRPr>
            </a:pPr>
            <a:r>
              <a:t>Interactive Student Turn</a:t>
            </a:r>
            <a:br/>
            <a:r>
              <a:t>KaTeX math typesetting</a:t>
            </a:r>
            <a:br/>
            <a:r>
              <a:t>Guided understanding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0"/>
          </a:solidFill>
          <a:ln>
            <a:solidFill>
              <a:srgbClr val="080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7B500"/>
                </a:solidFill>
              </a:defRPr>
            </a:pPr>
            <a:r>
              <a:t>03 / HARDWARE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Hardware Synergy &amp; Implementation Validation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846320" cy="457200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500"/>
                </a:solidFill>
              </a:defRPr>
            </a:pPr>
            <a:r>
              <a:t>⚡ Why iQOO Hardware Fits Edge AI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1. High-Bandwidth Memory (LPDDR5X up to 77 GB/s):</a:t>
            </a:r>
            <a:br/>
            <a:r>
              <a:t>   Overcomes the memory-bandwidth wall for responsive autoregressive token generation.</a:t>
            </a:r>
            <a:br/>
            <a:br/>
            <a:r>
              <a:t>2. Qualcomm Hexagon NPU Target:</a:t>
            </a:r>
            <a:br/>
            <a:r>
              <a:t>   Specialized INT4 quantized matrix multiplication offload at sub-watt power efficiency.</a:t>
            </a:r>
            <a:br/>
            <a:br/>
            <a:r>
              <a:t>3. 6000mm² Vapor Chamber Cooling:</a:t>
            </a:r>
            <a:br/>
            <a:r>
              <a:t>   Provides thermal headroom to prevent throttling during long study sessions.</a:t>
            </a:r>
            <a:br/>
            <a:br/>
            <a:r>
              <a:t>4. Airplane Mode Resilience:</a:t>
            </a:r>
            <a:br/>
            <a:r>
              <a:t>   Proves gaming performance can power serious student productivity.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645920"/>
            <a:ext cx="5486400" cy="457200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📊 Implementation Status (Honest Separation)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80760" y="2286000"/>
          <a:ext cx="52120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01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7B500"/>
                          </a:solidFill>
                        </a:defRPr>
                      </a:pPr>
                      <a:r>
                        <a:t>Demonstrated (Now)</a:t>
                      </a:r>
                    </a:p>
                  </a:txBody>
                  <a:tcPr>
                    <a:solidFill>
                      <a:srgbClr val="101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Production</a:t>
                      </a:r>
                    </a:p>
                  </a:txBody>
                  <a:tcPr>
                    <a:solidFill>
                      <a:srgbClr val="10141E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Network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E676"/>
                          </a:solidFill>
                        </a:defRPr>
                      </a:pPr>
                      <a:r>
                        <a:t>0 KB (No Internet Manifest)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 KB (Strict Air-Gapped)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Vision / OCR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E676"/>
                          </a:solidFill>
                        </a:defRPr>
                      </a:pPr>
                      <a:r>
                        <a:t>ML Kit (Offline Local)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CameraX + ML Kit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Curriculum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E676"/>
                          </a:solidFill>
                        </a:defRPr>
                      </a:pPr>
                      <a:r>
                        <a:t>CBSE 9-10 &amp; JEE Vault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Full K-12 Vector Store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SLM Runtime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E676"/>
                          </a:solidFill>
                        </a:defRPr>
                      </a:pPr>
                      <a:r>
                        <a:t>Socratic Pipeline Emulator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Qualcomm QNN / MediaPipe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E676"/>
                          </a:solidFill>
                        </a:defRPr>
                      </a:pPr>
                      <a:r>
                        <a:t>Interactive Baseline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Target: ≥24 tok/s</a:t>
                      </a:r>
                    </a:p>
                  </a:txBody>
                  <a:tcPr>
                    <a:solidFill>
                      <a:srgbClr val="0C0F1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0"/>
          </a:solidFill>
          <a:ln>
            <a:solidFill>
              <a:srgbClr val="080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7B500"/>
                </a:solidFill>
              </a:defRPr>
            </a:pPr>
            <a:r>
              <a:t>04 / DEMO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60-Second Live Stage Demo &amp;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7B500"/>
                </a:solidFill>
              </a:defRPr>
            </a:pPr>
            <a:r>
              <a:t>🎬 The 60-Second Airplane Mode Demo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1. 0:00 - 0:15 | The Physical Proof:</a:t>
            </a:r>
            <a:br/>
            <a:r>
              <a:t>   Swipe notification shade, toggle Airplane Mode.</a:t>
            </a:r>
            <a:br/>
            <a:r>
              <a:t>   Status badge reacts instantly: 'AIRPLANE ON • 0 KB'.</a:t>
            </a:r>
            <a:br/>
            <a:br/>
            <a:r>
              <a:t>2. 0:15 - 0:35 | The Scan &amp; Retrieval:</a:t>
            </a:r>
            <a:br/>
            <a:r>
              <a:t>   Point camera at textbook incline physics problem.</a:t>
            </a:r>
            <a:br/>
            <a:r>
              <a:t>   Offline OCR extracts question; local RAG finds concept.</a:t>
            </a:r>
            <a:br/>
            <a:br/>
            <a:r>
              <a:t>3. 0:35 - 0:50 | Socratic Dialogue:</a:t>
            </a:r>
            <a:br/>
            <a:r>
              <a:t>   EdgeTutor asks: 'What forces act along the slope?'</a:t>
            </a:r>
            <a:br/>
            <a:r>
              <a:t>   Student guided step-by-step with KaTeX formulas.</a:t>
            </a:r>
            <a:br/>
            <a:br/>
            <a:r>
              <a:t>4. 0:50 - 1:00 | Verifiable 0 KB Result:</a:t>
            </a:r>
            <a:br/>
            <a:r>
              <a:t>   Show system network stats: Exactly 0 KB consumed.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0141E"/>
          </a:solidFill>
          <a:ln w="19050">
            <a:solidFill>
              <a:srgbClr val="262D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5FF"/>
                </a:solidFill>
              </a:defRPr>
            </a:pPr>
            <a:r>
              <a:t>🚀 Strategic Impact &amp; Brand Value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Redefines Performance Beyond Gaming:</a:t>
            </a:r>
            <a:br/>
            <a:r>
              <a:t>  Proves iQOO silicon isn't just for BGMI—it's India's smartest productivity engine.</a:t>
            </a:r>
            <a:br/>
            <a:br/>
            <a:r>
              <a:t>• The 'Parent-Approved' Buying Decision:</a:t>
            </a:r>
            <a:br/>
            <a:r>
              <a:t>  Parents gladly invest in an iQOO phone when it serves as a distraction-free offline study mentor.</a:t>
            </a:r>
            <a:br/>
            <a:br/>
            <a:r>
              <a:t>• Potential Out-of-the-Box Feature:</a:t>
            </a:r>
            <a:br/>
            <a:r>
              <a:t>  Strong candidate for pre-loading as a flagship educational capability on FuntouchOS.</a:t>
            </a:r>
            <a:br/>
            <a:br/>
            <a:r>
              <a:t>🌟 Final Punchline:</a:t>
            </a:r>
            <a:br/>
            <a:r>
              <a:t>  'Don't distract students with the internet.</a:t>
            </a:r>
            <a:br/>
            <a:r>
              <a:t>   Empower them with On-Device AI.'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